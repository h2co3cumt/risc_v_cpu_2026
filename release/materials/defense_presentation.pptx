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35baeb19d74d1d" /><Relationship Type="http://schemas.openxmlformats.org/officeDocument/2006/relationships/extended-properties" Target="/docProps/app.xml" Id="R60b12d64b4dd4885" /><Relationship Type="http://schemas.openxmlformats.org/officeDocument/2006/relationships/officeDocument" Target="/ppt/presentation.xml" Id="R2ac612a635da47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0cc2c348f0467b"/>
  </p:sldMasterIdLst>
  <p:notesMasterIdLst>
    <p:notesMasterId xmlns:r="http://schemas.openxmlformats.org/officeDocument/2006/relationships" r:id="R4ee895a0ea994a76"/>
  </p:notesMasterIdLst>
  <p:sldIdLst>
    <p:sldId xmlns:r="http://schemas.openxmlformats.org/officeDocument/2006/relationships" id="256" r:id="R3d30b4f0328f431d"/>
    <p:sldId xmlns:r="http://schemas.openxmlformats.org/officeDocument/2006/relationships" id="257" r:id="R0a4d1001013c4a45"/>
    <p:sldId xmlns:r="http://schemas.openxmlformats.org/officeDocument/2006/relationships" id="258" r:id="Rc397b9817dde41a4"/>
    <p:sldId xmlns:r="http://schemas.openxmlformats.org/officeDocument/2006/relationships" id="259" r:id="R73f3018f260c491d"/>
    <p:sldId xmlns:r="http://schemas.openxmlformats.org/officeDocument/2006/relationships" id="260" r:id="Re01ee4622a69475d"/>
    <p:sldId xmlns:r="http://schemas.openxmlformats.org/officeDocument/2006/relationships" id="261" r:id="Rc17b61a1286a460d"/>
    <p:sldId xmlns:r="http://schemas.openxmlformats.org/officeDocument/2006/relationships" id="262" r:id="R6d2c199222f74ea2"/>
    <p:sldId xmlns:r="http://schemas.openxmlformats.org/officeDocument/2006/relationships" id="263" r:id="R7b99124e9a5948de"/>
    <p:sldId xmlns:r="http://schemas.openxmlformats.org/officeDocument/2006/relationships" id="264" r:id="R5071a5abf4dd4890"/>
    <p:sldId xmlns:r="http://schemas.openxmlformats.org/officeDocument/2006/relationships" id="265" r:id="Rec7cdb1556f1493e"/>
    <p:sldId xmlns:r="http://schemas.openxmlformats.org/officeDocument/2006/relationships" id="266" r:id="R8b7189f058b54ce2"/>
    <p:sldId xmlns:r="http://schemas.openxmlformats.org/officeDocument/2006/relationships" id="267" r:id="R89473fc76c2441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71d70157194843" /><Relationship Type="http://schemas.openxmlformats.org/officeDocument/2006/relationships/slideMaster" Target="/ppt/slideMasters/slideMaster1.xml" Id="R8b0cc2c348f0467b" /><Relationship Type="http://schemas.openxmlformats.org/officeDocument/2006/relationships/notesMaster" Target="/ppt/notesMasters/notesMaster1.xml" Id="R4ee895a0ea994a76" /><Relationship Type="http://schemas.openxmlformats.org/officeDocument/2006/relationships/presProps" Target="/ppt/presProps.xml" Id="Ra25415f86d3e409f" /><Relationship Type="http://schemas.openxmlformats.org/officeDocument/2006/relationships/tableStyles" Target="/ppt/tableStyles.xml" Id="Rc4dcc47648da44b3" /><Relationship Type="http://schemas.openxmlformats.org/officeDocument/2006/relationships/slide" Target="/ppt/slides/slide1.xml" Id="R3d30b4f0328f431d" /><Relationship Type="http://schemas.openxmlformats.org/officeDocument/2006/relationships/slide" Target="/ppt/slides/slide2.xml" Id="R0a4d1001013c4a45" /><Relationship Type="http://schemas.openxmlformats.org/officeDocument/2006/relationships/slide" Target="/ppt/slides/slide3.xml" Id="Rc397b9817dde41a4" /><Relationship Type="http://schemas.openxmlformats.org/officeDocument/2006/relationships/slide" Target="/ppt/slides/slide4.xml" Id="R73f3018f260c491d" /><Relationship Type="http://schemas.openxmlformats.org/officeDocument/2006/relationships/slide" Target="/ppt/slides/slide5.xml" Id="Re01ee4622a69475d" /><Relationship Type="http://schemas.openxmlformats.org/officeDocument/2006/relationships/slide" Target="/ppt/slides/slide6.xml" Id="Rc17b61a1286a460d" /><Relationship Type="http://schemas.openxmlformats.org/officeDocument/2006/relationships/slide" Target="/ppt/slides/slide7.xml" Id="R6d2c199222f74ea2" /><Relationship Type="http://schemas.openxmlformats.org/officeDocument/2006/relationships/slide" Target="/ppt/slides/slide8.xml" Id="R7b99124e9a5948de" /><Relationship Type="http://schemas.openxmlformats.org/officeDocument/2006/relationships/slide" Target="/ppt/slides/slide9.xml" Id="R5071a5abf4dd4890" /><Relationship Type="http://schemas.openxmlformats.org/officeDocument/2006/relationships/slide" Target="/ppt/slides/slide10.xml" Id="Rec7cdb1556f1493e" /><Relationship Type="http://schemas.openxmlformats.org/officeDocument/2006/relationships/slide" Target="/ppt/slides/slide11.xml" Id="R8b7189f058b54ce2" /><Relationship Type="http://schemas.openxmlformats.org/officeDocument/2006/relationships/slide" Target="/ppt/slides/slide12.xml" Id="R89473fc76c2441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c882cea25344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4ccd8cad11441a" /><Relationship Type="http://schemas.openxmlformats.org/officeDocument/2006/relationships/notesMaster" Target="/ppt/notesMasters/notesMaster1.xml" Id="R56bcf6e879f84e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ad6c41436646a5" /><Relationship Type="http://schemas.openxmlformats.org/officeDocument/2006/relationships/notesMaster" Target="/ppt/notesMasters/notesMaster1.xml" Id="R3b7ee702def746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bf01a3916b4b21" /><Relationship Type="http://schemas.openxmlformats.org/officeDocument/2006/relationships/notesMaster" Target="/ppt/notesMasters/notesMaster1.xml" Id="R02be24a322974a2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2961153b4c4c73" /><Relationship Type="http://schemas.openxmlformats.org/officeDocument/2006/relationships/notesMaster" Target="/ppt/notesMasters/notesMaster1.xml" Id="Rced420de08f34d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d4f1a346f549e7" /><Relationship Type="http://schemas.openxmlformats.org/officeDocument/2006/relationships/notesMaster" Target="/ppt/notesMasters/notesMaster1.xml" Id="R8022cd1788f441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30a2f48d174e69" /><Relationship Type="http://schemas.openxmlformats.org/officeDocument/2006/relationships/notesMaster" Target="/ppt/notesMasters/notesMaster1.xml" Id="R3ceee64295ce40f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8ca94cdeee46c0" /><Relationship Type="http://schemas.openxmlformats.org/officeDocument/2006/relationships/notesMaster" Target="/ppt/notesMasters/notesMaster1.xml" Id="R398a77bce0f54c6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5cbe82c8724f46" /><Relationship Type="http://schemas.openxmlformats.org/officeDocument/2006/relationships/notesMaster" Target="/ppt/notesMasters/notesMaster1.xml" Id="Rd9dff475cb7740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ed22d210dd4101" /><Relationship Type="http://schemas.openxmlformats.org/officeDocument/2006/relationships/notesMaster" Target="/ppt/notesMasters/notesMaster1.xml" Id="R2ab93830d56e47f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35aa63724cb4740" /><Relationship Type="http://schemas.openxmlformats.org/officeDocument/2006/relationships/notesMaster" Target="/ppt/notesMasters/notesMaster1.xml" Id="R952d8a643b8b4b4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dd30accb484e06" /><Relationship Type="http://schemas.openxmlformats.org/officeDocument/2006/relationships/notesMaster" Target="/ppt/notesMasters/notesMaster1.xml" Id="R59c934249559492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2f701e1d0914143" /><Relationship Type="http://schemas.openxmlformats.org/officeDocument/2006/relationships/notesMaster" Target="/ppt/notesMasters/notesMaster1.xml" Id="R82d26fd050b146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来源：docs/progress.md；release/evidence/automated_metrics.json。当前版本为 competition_final_candidate。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来源：AGENTS.md；docs/roadmap.md；docs/competition_scoring.md。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来源：docs/interfaces.md。图中所有外设与地址译码均位于 Core 外部。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来源：docs/architecture.md；rtl/pipeline_cpu.v；docs/progress.md。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来源：tmp/final_regression_summary.txt；docs/progress.md。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来源：scripts/run_task23_regression.ps1；tb/data/task23_wb_hold.mem。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来源：release/evidence/automated_metrics.json；third_party/coremark 固定提交。CoreMark/MHz 属于 RTL 仿真估算。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来源：release/evidence/automated_metrics.json；fpga/task30_logic_analyzer PDS 报告。资源为综合结果。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来源：rtl/branch_predictor.v；docs/performance_baseline.md；release/evidence/automated_metrics.json。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来源：docs/application_logic_analyzer.md；software/task30_logic_analyzer；python/logic_analyzer.py。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来源：docs/reproduction.md；release/materials/field_recovery_card.md。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来源：docs/progress.md；release/HANDOFF.md。完成实体证据后更新材料并重建 SHA-256 清单。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dd2901a5bf47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31db434af64557" /><Relationship Type="http://schemas.openxmlformats.org/officeDocument/2006/relationships/slideLayout" Target="/ppt/slideLayouts/slideLayout1.xml" Id="Rd6537bb7f8f04b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537bb7f8f04b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f10f67d9d4ac0" /><Relationship Type="http://schemas.openxmlformats.org/officeDocument/2006/relationships/notesSlide" Target="/ppt/notesSlides/notesSlide1.xml" Id="R72ff6bfebdc0462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ba286f6814e61" /><Relationship Type="http://schemas.openxmlformats.org/officeDocument/2006/relationships/notesSlide" Target="/ppt/notesSlides/notesSlide2.xml" Id="R5cafda42f84843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64bd173a2e4529" /><Relationship Type="http://schemas.openxmlformats.org/officeDocument/2006/relationships/notesSlide" Target="/ppt/notesSlides/notesSlide3.xml" Id="R59d99835092046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23d776270b4a00" /><Relationship Type="http://schemas.openxmlformats.org/officeDocument/2006/relationships/notesSlide" Target="/ppt/notesSlides/notesSlide4.xml" Id="R75ee9c722b6f4a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8939477a5243dc" /><Relationship Type="http://schemas.openxmlformats.org/officeDocument/2006/relationships/notesSlide" Target="/ppt/notesSlides/notesSlide5.xml" Id="Re2db8498c72a459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59cc1b7b24bb3" /><Relationship Type="http://schemas.openxmlformats.org/officeDocument/2006/relationships/notesSlide" Target="/ppt/notesSlides/notesSlide6.xml" Id="Re2927954d5754f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74fc7a9ca4cbc" /><Relationship Type="http://schemas.openxmlformats.org/officeDocument/2006/relationships/notesSlide" Target="/ppt/notesSlides/notesSlide7.xml" Id="R1ef309fd66124b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6213a9287448d0" /><Relationship Type="http://schemas.openxmlformats.org/officeDocument/2006/relationships/chart" Target="/ppt/slides/charts/chart1.xml" Id="R669b38b8e6004648" /><Relationship Type="http://schemas.openxmlformats.org/officeDocument/2006/relationships/notesSlide" Target="/ppt/notesSlides/notesSlide8.xml" Id="R5994676b4a6f452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61e70c37f4eea" /><Relationship Type="http://schemas.openxmlformats.org/officeDocument/2006/relationships/notesSlide" Target="/ppt/notesSlides/notesSlide9.xml" Id="R6aa6ab87ebf04d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f9724670264a55" /><Relationship Type="http://schemas.openxmlformats.org/officeDocument/2006/relationships/notesSlide" Target="/ppt/notesSlides/notesSlide10.xml" Id="Rb6d4153d567f47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2017887844457" /><Relationship Type="http://schemas.openxmlformats.org/officeDocument/2006/relationships/notesSlide" Target="/ppt/notesSlides/notesSlide11.xml" Id="Rf6a994c1d2f945d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cab738ccb4069" /><Relationship Type="http://schemas.openxmlformats.org/officeDocument/2006/relationships/notesSlide" Target="/ppt/notesSlides/notesSlide12.xml" Id="R1414a2efbdb44d2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最终配置资源</c:v>
          </c:tx>
          <c:spPr>
            <a:solidFill xmlns:a="http://schemas.openxmlformats.org/drawingml/2006/main">
              <a:srgbClr val="2F5597"/>
            </a:solidFill>
          </c:spPr>
          <c:cat>
            <c:strRef>
              <c:f>'Chart Data'!$A$2:$A$3</c:f>
              <c:strCache>
                <c:ptCount val="2"/>
                <c:pt idx="0">
                  <c:v>FF</c:v>
                </c:pt>
                <c:pt idx="1">
                  <c:v>LUT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3120</c:v>
                </c:pt>
                <c:pt idx="1">
                  <c:v>3461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>
                  <a:latin typeface="SimHei"/>
                  <a:ea typeface="SimHei"/>
                  <a:cs typeface="Sim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9D9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666666"/>
                </a:solidFill>
                <a:latin typeface="SimHei"/>
                <a:ea typeface="SimHei"/>
                <a:cs typeface="Sim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SimHei"/>
                <a:ea typeface="SimHei"/>
                <a:cs typeface="Sim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71FB61-4594-4394-A77F-510AA05C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9075B4-F285-46DE-9F7F-68349C85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D473F7-D1A0-4FE6-A01B-A71018D92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57300"/>
            <a:ext cx="10287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3900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RISC-V多协议逻辑分析仪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7DD30-157B-41C3-BAAE-D16A5EC1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38375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F5597"/>
                </a:solidFill>
                <a:latin typeface="SimHei"/>
                <a:ea typeface="SimHei"/>
                <a:cs typeface="SimHei"/>
              </a:defRPr>
            </a:pPr>
            <a:r>
              <a:rPr sz="2025" b="0">
                <a:solidFill>
                  <a:srgbClr val="2F5597"/>
                </a:solidFill>
                <a:latin typeface="SimHei"/>
                <a:ea typeface="SimHei"/>
                <a:cs typeface="SimHei"/>
              </a:rPr>
              <a:t>RV32I 五级流水线 CPU 与八通道采集平台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304369-1396-460A-939A-044815BA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74A02-E67A-4C43-B957-DBD16BE0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718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MES50HP  PGL50H-6IFBG484  50 MHz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A801B-5F64-45D7-95B1-66EF3BB8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07A5F"/>
                </a:solidFill>
                <a:latin typeface="SimHei"/>
                <a:ea typeface="SimHei"/>
                <a:cs typeface="SimHei"/>
              </a:defRPr>
            </a:pPr>
            <a:r>
              <a:rPr sz="1500" b="1">
                <a:solidFill>
                  <a:srgbClr val="E07A5F"/>
                </a:solidFill>
                <a:latin typeface="SimHei"/>
                <a:ea typeface="SimHei"/>
                <a:cs typeface="SimHei"/>
              </a:rPr>
              <a:t>技术答辩候选稿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F04FD6-777A-442B-94D1-242AF3A1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571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1575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自动化回归与 PDS 已完成</a:t>
            </a:r>
          </a:p>
          <a:p xmlns:a="http://schemas.openxmlformats.org/drawingml/2006/main">
            <a:pPr algn="l">
              <a:defRPr sz="1575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1575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实体板最终证据待补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34C4F-2B82-47B6-90A3-95E6B213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314950"/>
            <a:ext cx="142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3450" b="1">
                <a:solidFill>
                  <a:srgbClr val="EAF0F8"/>
                </a:solidFill>
                <a:latin typeface="SimHei"/>
                <a:ea typeface="SimHei"/>
                <a:cs typeface="SimHei"/>
              </a:defRPr>
            </a:pPr>
            <a:r>
              <a:rPr sz="3450" b="1">
                <a:solidFill>
                  <a:srgbClr val="EAF0F8"/>
                </a:solidFill>
                <a:latin typeface="SimHei"/>
                <a:ea typeface="SimHei"/>
                <a:cs typeface="SimHei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7011101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6A19E9-456C-4DE8-BE3A-36A573A0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2550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交付范围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B6FC5-E89E-4F7E-AD8B-83ABFBE3B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主线聚焦正确性、性能和可复现应用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9B25E1-1EE4-4E46-B7F5-C74C1FC6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F911A-673E-4F14-A8B3-E06E21E5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D01CEA-EEDB-4F59-9714-C59EEBCE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383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725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处理器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B39F44-CBC0-46B7-A0BE-3E76AC66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383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72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完整 RV32I 与五级流水线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93FE7-A17C-42E8-ACC9-82A27884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A19BF7-5006-4D38-BC0E-C3A6C980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725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性能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6EE9B7-49A8-4B6F-A590-9142576F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5908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72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官方 CoreMark、计数器与 PDS Timing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64670B-6EB7-4FE1-9940-F7DA5383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07A5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C1734E-3341-4409-89BF-A2C882DF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725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应用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76F27-C12A-4A5E-ADE3-5BD9F0D1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433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72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8 通道 Raw、UART/SPI、Python/VCD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682F0A-FCB1-4EFF-AAC2-6E3D291B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1619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93D729-FB0A-4DF8-8A4E-6551C911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1619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725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发布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AF8B10-B916-42F2-8D74-FF3AF8E4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9580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72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唯一最终 bitstream、报告、固件和 SHA-256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464DE1-A4A2-4D99-AE86-7B32D438B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667085"/>
                </a:solidFill>
                <a:latin typeface="SimHei"/>
                <a:ea typeface="SimHei"/>
                <a:cs typeface="SimHei"/>
              </a:rPr>
              <a:t>冻结项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1EA6C5-4383-4EBC-880F-594BDEF0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60070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1275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RLE、Cache、完整异常中断、AI、DDR、HDMI、PCIe、千兆网、自定义指令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E346C6-F892-4113-B6FA-8DA30652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75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RISC-V多协议逻辑分析仪   02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C6E34E-48DF-4995-A3A9-25D985F9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范围依据 docs/roadmap.md</a:t>
            </a:r>
          </a:p>
        </p:txBody>
      </p:sp>
    </p:spTree>
    <p:extLst>
      <p:ext uri="{BB962C8B-B14F-4D97-AF65-F5344CB8AC3E}">
        <p14:creationId xmlns:p14="http://schemas.microsoft.com/office/powerpoint/2010/main" val="1733503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0D714C-54FB-4BED-996F-CD57C516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2550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Core 与 SoC 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B09AC-39AD-4770-85CD-C69AB3B5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外设变化不修改 pipeline_cpu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636B6-1E4E-492A-95CC-2E2BBF1BF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A3C30-E4F6-4EFA-911D-D786C238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3048000" cy="333375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11430">
            <a:solidFill>
              <a:srgbClr val="2F559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BFB7B-17CA-490D-B083-666FEBC7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260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2100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Pipeline 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F4C92-9F13-4B8A-9CE4-0A2923D8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24150"/>
            <a:ext cx="2476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6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RV32I 执行</a:t>
            </a:r>
          </a:p>
          <a:p xmlns:a="http://schemas.openxmlformats.org/drawingml/2006/main">
            <a:pPr algn="ctr">
              <a:defRPr sz="16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6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IF ID EX MEM WB</a:t>
            </a:r>
          </a:p>
          <a:p xmlns:a="http://schemas.openxmlformats.org/drawingml/2006/main">
            <a:pPr algn="ctr">
              <a:defRPr sz="16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6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Forwarding  Stall  Flush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C7E4E1-2791-46AE-B37E-32C5D0EE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386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1275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统一事务 + trace + 性能事件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78CAE8-2E71-4FCA-9928-14D45B22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2095500" cy="3333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A9D8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3F591-46E1-4F01-B549-D8AF80D2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57400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294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A9D8F"/>
                </a:solidFill>
                <a:latin typeface="SimHei"/>
                <a:ea typeface="SimHei"/>
                <a:cs typeface="SimHei"/>
              </a:defRPr>
            </a:pPr>
            <a:r>
              <a:rPr sz="1950" b="1">
                <a:solidFill>
                  <a:srgbClr val="2A9D8F"/>
                </a:solidFill>
                <a:latin typeface="SimHei"/>
                <a:ea typeface="SimHei"/>
                <a:cs typeface="SimHei"/>
              </a:rPr>
              <a:t>Interconnect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41FA6F-BED5-4796-AE60-0FBB341F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57500"/>
            <a:ext cx="16383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RAM/MMIO 译码</a:t>
            </a:r>
          </a:p>
          <a:p xmlns:a="http://schemas.openxmlformats.org/drawingml/2006/main">
            <a:pPr algn="ctr">
              <a:defRPr sz="157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唯一响应汇合</a:t>
            </a:r>
          </a:p>
          <a:p xmlns:a="http://schemas.openxmlformats.org/drawingml/2006/main">
            <a:pPr algn="ctr">
              <a:defRPr sz="157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valid/ready 背压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DF4D4-CA3B-4E6B-8776-BC5BFE56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66708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168BE3-58E6-4B97-925B-E978D861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0025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650" b="1">
                <a:solidFill>
                  <a:srgbClr val="111827"/>
                </a:solidFill>
                <a:latin typeface="SimHei"/>
                <a:ea typeface="SimHei"/>
                <a:cs typeface="SimHei"/>
              </a:rPr>
              <a:t>RAM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044251-59B9-47F3-A2A9-88FD3979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97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66708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A80F69-A2BF-4B26-A5ED-E48820EB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0025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650" b="1">
                <a:solidFill>
                  <a:srgbClr val="111827"/>
                </a:solidFill>
                <a:latin typeface="SimHei"/>
                <a:ea typeface="SimHei"/>
                <a:cs typeface="SimHei"/>
              </a:rPr>
              <a:t>UART/GPIO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69D2C1-A244-47C5-B338-37DDEA2F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11430">
            <a:solidFill>
              <a:srgbClr val="2F559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B188BB-16A9-4C52-BCE1-0F4A7B65B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71475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1650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911E8-E707-4597-B4AC-A9095EBD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24250"/>
            <a:ext cx="1809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11430">
            <a:solidFill>
              <a:srgbClr val="2F559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624850-485B-484D-8498-86F25721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1650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Logic Analyzer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E91692-F746-4DBE-8800-C1CE5716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00425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F87F4-8C8C-43BF-BB22-B9D16211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0425"/>
            <a:ext cx="571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4A340D-290C-45B5-8D4B-F685D7188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0030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3D3555-1D1B-4A5D-BF54-457AF60E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114800"/>
            <a:ext cx="47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6B679B-652E-49D4-85A1-AE5CA644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43550"/>
            <a:ext cx="1042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07A5F"/>
                </a:solidFill>
                <a:latin typeface="SimHei"/>
                <a:ea typeface="SimHei"/>
                <a:cs typeface="SimHei"/>
              </a:defRPr>
            </a:pPr>
            <a:r>
              <a:rPr sz="1575" b="1">
                <a:solidFill>
                  <a:srgbClr val="E07A5F"/>
                </a:solidFill>
                <a:latin typeface="SimHei"/>
                <a:ea typeface="SimHei"/>
                <a:cs typeface="SimHei"/>
              </a:rPr>
              <a:t>Core 中不存在设备地址、片选和 UART/GPIO/分析仪专用端口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206B77-B74D-455B-A8FF-C6EE9AF2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75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RISC-V多协议逻辑分析仪   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6F08E9-BD40-42A7-ADC0-756181DB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接口契约 docs/interfaces.md</a:t>
            </a:r>
          </a:p>
        </p:txBody>
      </p:sp>
    </p:spTree>
    <p:extLst>
      <p:ext uri="{BB962C8B-B14F-4D97-AF65-F5344CB8AC3E}">
        <p14:creationId xmlns:p14="http://schemas.microsoft.com/office/powerpoint/2010/main" val="8112902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3A5FF5F-32C4-4127-8CE9-418A6318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2550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五级流水线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1864C7-5D30-429E-8B13-945FC6BC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控制流在 EX 重定向，事务在 MEM 等待，退休在 WB 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45705-5439-46A6-BD0A-798E2EA2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BDD17-D25F-453D-9449-EA5AA781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790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365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409CB-DCE2-4DEC-855A-E89111D8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790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01B660-B0E5-4C93-85FA-ACFFEFF2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80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IF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14924-6A6B-4568-8050-1A28FFEA1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81300"/>
            <a:ext cx="1543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3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取指请求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3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PC 与错误响应丢弃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184CF-9714-4C00-8B3D-3BB794F1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0"/>
            <a:ext cx="1790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559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561AA5-10C4-4A14-A7DE-4F7B63E31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0"/>
            <a:ext cx="1790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C79EF4-C876-475D-B2A6-6E0012A4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860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80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23A42E-F12A-4B5E-A7BE-8BE836EE8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781300"/>
            <a:ext cx="1543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3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译码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3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寄存器读取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6B8C6B-911F-4454-8D52-154C885F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86000"/>
            <a:ext cx="1790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A9D8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3B334B-00DB-4929-B88D-55B1A1A6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86000"/>
            <a:ext cx="1790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65D935-033E-408E-9C7F-34F379CA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860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80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EX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2A47F-2277-4B51-A6CF-3EE32195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781300"/>
            <a:ext cx="1543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3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ALU 与 Branch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3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前递选择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467552-D854-4D16-B3A3-858EF3BD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1790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07A5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351806-E6CA-4C81-B890-78655D8A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1790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07A5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77A408-C0B4-48C1-8C94-77DCE3F7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80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MEM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82B6A1-1B86-437C-A775-DA4DDFDAE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781300"/>
            <a:ext cx="1543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3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Load Store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3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背压等待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7C481A-DAB6-4C8B-A4A5-DE0A8BFF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17907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365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BA812A-DF6F-4832-AE0F-C19E6BA5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1790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AC3BEB-B582-4601-903C-39041D90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86000"/>
            <a:ext cx="1790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80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WB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840336-BD8C-4A3D-8F0B-E3655E67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81300"/>
            <a:ext cx="1543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3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写回</a:t>
            </a:r>
          </a:p>
          <a:p xmlns:a="http://schemas.openxmlformats.org/drawingml/2006/main">
            <a:pPr algn="ctr">
              <a:defRPr sz="13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3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提交 trace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63EA83-E285-49C8-81B7-DA8E9E98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7180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9FE677-C0E9-4B4F-8D6E-10236CB4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7180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126F49-257A-44DE-B301-35E08DDB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7180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40AD34-3BA8-40D6-86A6-9FAC1F02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71800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6B820A-5258-4366-8830-4F30BBF2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86000"/>
            <a:ext cx="1143000" cy="1428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6F8FB"/>
          </a:solidFill>
          <a:ln xmlns:a="http://schemas.openxmlformats.org/drawingml/2006/main" w="11430">
            <a:solidFill>
              <a:srgbClr val="66708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84AB4C-F807-493B-B640-CBB1D882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533650"/>
            <a:ext cx="10096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外部存储</a:t>
            </a:r>
          </a:p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与 MMIO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E31BEB-8540-4301-9A1D-61EAF70D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971800"/>
            <a:ext cx="2095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B839B6-255F-4E62-A1FC-E7DEAB4A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1650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关键约束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14C14E-424B-4C92-857C-2640B234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72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请求等待期间字段稳定   错误路径无副作用   每条指令最多退休一次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33D5F4-F8DB-4B1D-85E9-DAB2463F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75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RISC-V多协议逻辑分析仪   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63CF35-1A09-4F06-BAE1-7A0C7F5E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Task 18 到 23</a:t>
            </a:r>
          </a:p>
        </p:txBody>
      </p:sp>
    </p:spTree>
    <p:extLst>
      <p:ext uri="{BB962C8B-B14F-4D97-AF65-F5344CB8AC3E}">
        <p14:creationId xmlns:p14="http://schemas.microsoft.com/office/powerpoint/2010/main" val="5778009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6E45A8-0206-44D2-B86E-350B8871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2550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验证覆盖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9A3B43-BB37-4079-9C15-1BAC8CFA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从模块到发布清单均输出明确 PASS 或 FAIL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135AC-DCA9-4E82-9DE0-06295577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876300" y="1657350"/>
          <a:ext xmlns:a="http://schemas.openxmlformats.org/drawingml/2006/main" cx="1038225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6572250"/>
                <a:gridCol w="2000250"/>
              </a:tblGrid>
              <a:tr h="530679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</a:rPr>
                        <a:t>层次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</a:rPr>
                        <a:t>覆盖内容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ISA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RV32UI Core 29 项 + Memory 10 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PASS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Reference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14 个入口与首差检测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14 / 0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Pipeline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10 个 Hazard 背压 Reset Trace 入口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PASS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GCC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两项程序 × 固定/随机延迟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Trace 一致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Application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Capture MMIO SoC UART/SPI Python/VCD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PASS</a:t>
                      </a:r>
                    </a:p>
                  </a:txBody>
                  <a:tcPr marL="91440" marR="91440" marT="45720" marB="45720"/>
                </a:tc>
              </a:tr>
              <a:tr h="530679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Release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范围审计 + 唯一最终 bitstream SHA-256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PASS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231CB-8D6D-44EF-81B3-E1335390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07A5F"/>
                </a:solidFill>
                <a:latin typeface="SimHei"/>
                <a:ea typeface="SimHei"/>
                <a:cs typeface="SimHei"/>
              </a:defRPr>
            </a:pPr>
            <a:r>
              <a:rPr sz="1500" b="1">
                <a:solidFill>
                  <a:srgbClr val="E07A5F"/>
                </a:solidFill>
                <a:latin typeface="SimHei"/>
                <a:ea typeface="SimHei"/>
                <a:cs typeface="SimHei"/>
              </a:rPr>
              <a:t>比较器在第一条不一致提交处报告字段、PC 和 instruction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3C31B-4D91-4280-988A-546BD4BC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75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RISC-V多协议逻辑分析仪   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288E7-6550-40F3-9442-4C303B6B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2026-09-16 自动回归</a:t>
            </a:r>
          </a:p>
        </p:txBody>
      </p:sp>
    </p:spTree>
    <p:extLst>
      <p:ext uri="{BB962C8B-B14F-4D97-AF65-F5344CB8AC3E}">
        <p14:creationId xmlns:p14="http://schemas.microsoft.com/office/powerpoint/2010/main" val="4568332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1CA8B-8383-46C5-B55B-01BCB947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2550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Hazard 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AF542-4794-4994-BD9F-C1A575B6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前递、暂停和冲刷分别处理三类依赖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2772B-D478-4B3F-80E2-2893E927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AEAC15-9264-4A01-827C-7F0D0E0E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A9D8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237AE-52E8-4E1F-9270-03064321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33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7CD10-987B-4114-AE73-719E1E38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80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Forwarding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94067-D3C7-4D06-920C-0059041A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2838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6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EX/MEM 优先于 MEM/WB</a:t>
            </a:r>
          </a:p>
          <a:p xmlns:a="http://schemas.openxmlformats.org/drawingml/2006/main">
            <a:pPr algn="ctr">
              <a:defRPr sz="16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6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排除 Load、x0、错误写回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A4A63-165E-4AD5-94BC-EB33DC18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07A5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7A2520-DED1-4F66-9B06-7BF4FA64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62125"/>
            <a:ext cx="333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07A5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E5FBD-67EA-4EA3-B4E1-C5C00A8F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62125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80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Load-Use Stall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9C1A1-1509-4AAE-A96A-791317D9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647950"/>
            <a:ext cx="2838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6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冻结 PC 与 IF/ID</a:t>
            </a:r>
          </a:p>
          <a:p xmlns:a="http://schemas.openxmlformats.org/drawingml/2006/main">
            <a:pPr algn="ctr">
              <a:defRPr sz="16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6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向 ID/EX 注入 Bubble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EC3403-EC75-4693-9172-0BBED36F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3333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5597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2F630-F1CD-4B0B-A24E-DDB501C7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62125"/>
            <a:ext cx="3333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ACCC16-EA1B-4A5A-958F-CBB40424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62125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80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Branch Jump Flush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775DB8-2EBF-4C6A-BB95-39A7B2A5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2838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6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EX 级重定向</a:t>
            </a:r>
          </a:p>
          <a:p xmlns:a="http://schemas.openxmlformats.org/drawingml/2006/main">
            <a:pPr algn="ctr">
              <a:defRPr sz="16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6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冲刷错误路径副作用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B985C8-CEE1-4B0B-BF05-19C35FE7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10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WB during hold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309CF-9C10-4E41-A4D0-416312373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53000"/>
            <a:ext cx="6572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0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定向用例证明数据事务等待期间 WB 值仍可前递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432B5-0E3C-42EB-9A65-097F1A6D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75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RISC-V多协议逻辑分析仪   06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281B07-DCCB-4BC8-902E-1CF04682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Task 23 10 entries PASS</a:t>
            </a:r>
          </a:p>
        </p:txBody>
      </p:sp>
    </p:spTree>
    <p:extLst>
      <p:ext uri="{BB962C8B-B14F-4D97-AF65-F5344CB8AC3E}">
        <p14:creationId xmlns:p14="http://schemas.microsoft.com/office/powerpoint/2010/main" val="15459204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585026-E606-4265-8C14-2819CAA2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2550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CoreMark 与分支预测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4B4B1-EA68-4C11-A21D-E2716328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同一 RV32I 镜像的 Predictor Off 和 On 均通过官方 CRC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F588C-F30A-45C5-8BDE-0ECE78E2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857250" y="1638300"/>
          <a:ext xmlns:a="http://schemas.openxmlformats.org/drawingml/2006/main" cx="104775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143250"/>
                <a:gridCol w="4191000"/>
              </a:tblGrid>
              <a:tr h="57150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</a:rPr>
                        <a:t>指标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</a:rPr>
                        <a:t>当前值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</a:rPr>
                        <a:t>证据口径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Predictor Off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2,106,042 cycles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CPI 2.7143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Predictor On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1,852,156 cycles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CPI 2.3747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周期减少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253,886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12.06%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BTB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203,492 hit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51,908 misprediction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性能事件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10 项 64-bit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含 predict、hit、mispredict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61040C-F861-46E9-A61C-97A46779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2575"/>
            <a:ext cx="10477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11430">
            <a:solidFill>
              <a:srgbClr val="E07A5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0A2B9-32E8-4064-8409-702261D55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10200"/>
            <a:ext cx="10144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8A3B12"/>
                </a:solidFill>
                <a:latin typeface="SimHei"/>
                <a:ea typeface="SimHei"/>
                <a:cs typeface="SimHei"/>
              </a:defRPr>
            </a:pPr>
            <a:r>
              <a:rPr sz="1425" b="1">
                <a:solidFill>
                  <a:srgbClr val="8A3B12"/>
                </a:solidFill>
                <a:latin typeface="SimHei"/>
                <a:ea typeface="SimHei"/>
                <a:cs typeface="SimHei"/>
              </a:rPr>
              <a:t>以上为 RTL 仿真 Before/After；实体板成绩只接受真实串口日志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6F472-6F18-4A28-B67A-A2C277CC4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75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RISC-V多协议逻辑分析仪   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7AA05-339E-488A-B426-75AD00C3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CoreMark commit 1f483d5b</a:t>
            </a:r>
          </a:p>
        </p:txBody>
      </p:sp>
    </p:spTree>
    <p:extLst>
      <p:ext uri="{BB962C8B-B14F-4D97-AF65-F5344CB8AC3E}">
        <p14:creationId xmlns:p14="http://schemas.microsoft.com/office/powerpoint/2010/main" val="1526770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6AEE2-B806-45EE-A53B-07ADB899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2550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最终配置资源与时序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49E88-EFDE-4D0F-B2C4-362C2BAD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唯一最终配置在 50 MHz 下满足全部时序约束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A5D532-C255-4875-9C6A-68AEFAF4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85800" y="1571625"/>
          <a:ext xmlns:a="http://schemas.openxmlformats.org/drawingml/2006/main" cx="6953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9b38b8e600464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5E9E32-C2F6-48D8-93C6-37D8EC9C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3143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11430">
            <a:solidFill>
              <a:srgbClr val="2F559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86E27-D32A-49BD-B8CE-6C7213F4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7716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最终时序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87EB5-F10B-4680-8D7B-C73C2FF8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38350"/>
            <a:ext cx="272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Fmax 56.1608 MHz</a:t>
            </a:r>
          </a:p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WNS +2.194 / +0.303 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76DAE-E064-42E1-830F-C6C1EA13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314325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11430">
            <a:solidFill>
              <a:srgbClr val="2A9D8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C0551-4E96-4CDC-AD95-78FC5385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90850"/>
            <a:ext cx="2724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9D8F"/>
                </a:solidFill>
                <a:latin typeface="SimHei"/>
                <a:ea typeface="SimHei"/>
                <a:cs typeface="SimHei"/>
              </a:defRPr>
            </a:pPr>
            <a:r>
              <a:rPr sz="1350" b="1">
                <a:solidFill>
                  <a:srgbClr val="2A9D8F"/>
                </a:solidFill>
                <a:latin typeface="SimHei"/>
                <a:ea typeface="SimHei"/>
                <a:cs typeface="SimHei"/>
              </a:rPr>
              <a:t>片上存储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1E5551-3C2F-4396-919E-7D7DDEF4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3375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5.5 个 DRM18K 等效块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055E0-EC46-401D-8634-AB617E6B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8150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135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bitstream SHA-256</a:t>
            </a:r>
          </a:p>
          <a:p xmlns:a="http://schemas.openxmlformats.org/drawingml/2006/main">
            <a:pPr algn="ctr">
              <a:defRPr sz="135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135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01C39461...5031A75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9FB849-72CB-4E14-BD20-FE986D26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75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RISC-V多协议逻辑分析仪   08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88D583-5EE0-425C-A01B-8408554B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PDS 2024.2-SP2</a:t>
            </a:r>
          </a:p>
        </p:txBody>
      </p:sp>
    </p:spTree>
    <p:extLst>
      <p:ext uri="{BB962C8B-B14F-4D97-AF65-F5344CB8AC3E}">
        <p14:creationId xmlns:p14="http://schemas.microsoft.com/office/powerpoint/2010/main" val="20143245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37CE1D-C8B3-460A-9D16-CD49ECEC8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2550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16 项分支预测器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D7DD93-0537-434E-B6CA-2D3CEA72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直接映射 BTB 与 2-bit 饱和计数器在 EX 级校验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D26E1-DB12-42D4-BED0-A92279FD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F5C8A6-8EC9-42EC-B362-AF1DBB15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572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AF0F8"/>
          </a:solidFill>
          <a:ln xmlns:a="http://schemas.openxmlformats.org/drawingml/2006/main" w="11430">
            <a:solidFill>
              <a:srgbClr val="2F5597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0C1D5E-D26D-4221-B662-56ACF677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478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2025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BTB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5245D-DD32-42D4-89F1-6082A15F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38400"/>
            <a:ext cx="4000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5597"/>
                </a:solidFill>
                <a:latin typeface="SimHei"/>
                <a:ea typeface="SimHei"/>
                <a:cs typeface="SimHei"/>
              </a:defRPr>
            </a:pPr>
            <a:r>
              <a:rPr sz="2550" b="1">
                <a:solidFill>
                  <a:srgbClr val="2F5597"/>
                </a:solidFill>
                <a:latin typeface="SimHei"/>
                <a:ea typeface="SimHei"/>
                <a:cs typeface="SimHei"/>
              </a:rPr>
              <a:t>16 entries</a:t>
            </a:r>
          </a:p>
          <a:p xmlns:a="http://schemas.openxmlformats.org/drawingml/2006/main">
            <a:pPr algn="ctr">
              <a:defRPr sz="2550" b="1">
                <a:solidFill>
                  <a:srgbClr val="2F5597"/>
                </a:solidFill>
                <a:latin typeface="SimHei"/>
                <a:ea typeface="SimHei"/>
                <a:cs typeface="SimHei"/>
              </a:defRPr>
            </a:pPr>
            <a:r>
              <a:rPr sz="2550" b="1">
                <a:solidFill>
                  <a:srgbClr val="2F5597"/>
                </a:solidFill>
                <a:latin typeface="SimHei"/>
                <a:ea typeface="SimHei"/>
                <a:cs typeface="SimHei"/>
              </a:rPr>
              <a:t>PC 直接索引</a:t>
            </a:r>
          </a:p>
          <a:p xmlns:a="http://schemas.openxmlformats.org/drawingml/2006/main">
            <a:pPr algn="ctr">
              <a:defRPr sz="2550" b="1">
                <a:solidFill>
                  <a:srgbClr val="2F5597"/>
                </a:solidFill>
                <a:latin typeface="SimHei"/>
                <a:ea typeface="SimHei"/>
                <a:cs typeface="SimHei"/>
              </a:defRPr>
            </a:pPr>
            <a:r>
              <a:rPr sz="2550" b="1">
                <a:solidFill>
                  <a:srgbClr val="2F5597"/>
                </a:solidFill>
                <a:latin typeface="SimHei"/>
                <a:ea typeface="SimHei"/>
                <a:cs typeface="SimHei"/>
              </a:rPr>
              <a:t>32-bit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141D9-6762-4397-8707-A5782BC5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11480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42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条件分支使用 2-bit 计数器</a:t>
            </a:r>
          </a:p>
          <a:p xmlns:a="http://schemas.openxmlformats.org/drawingml/2006/main">
            <a:pPr algn="ctr">
              <a:defRPr sz="142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42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错误方向或目标在 EX 恢复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3D61E-3B97-44A0-BBB3-DF58C7CC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09750"/>
            <a:ext cx="4762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559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E050A5-8AE5-4105-A3FA-A60E195B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5597"/>
                </a:solidFill>
                <a:latin typeface="SimHei"/>
                <a:ea typeface="SimHei"/>
                <a:cs typeface="SimHei"/>
              </a:defRPr>
            </a:pPr>
            <a:r>
              <a:rPr sz="1500" b="1">
                <a:solidFill>
                  <a:srgbClr val="2F5597"/>
                </a:solidFill>
                <a:latin typeface="SimHei"/>
                <a:ea typeface="SimHei"/>
                <a:cs typeface="SimHei"/>
              </a:rPr>
              <a:t>索引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BBEA9A-CAFB-4AEA-ABC7-31F25BA5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09750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3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PC[5:2]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928A9C-59F4-48C7-A92B-1BBA6FC8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714625"/>
            <a:ext cx="4762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A9D8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C2F6EC-44BD-47C4-B2F5-FD739837E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9D8F"/>
                </a:solidFill>
                <a:latin typeface="SimHei"/>
                <a:ea typeface="SimHei"/>
                <a:cs typeface="SimHei"/>
              </a:defRPr>
            </a:pPr>
            <a:r>
              <a:rPr sz="1500" b="1">
                <a:solidFill>
                  <a:srgbClr val="2A9D8F"/>
                </a:solidFill>
                <a:latin typeface="SimHei"/>
                <a:ea typeface="SimHei"/>
                <a:cs typeface="SimHei"/>
              </a:rPr>
              <a:t>标签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E49E7-7FD0-40D6-B3FA-985EF4F1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14625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3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PC[31:6]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F817E-C228-4D65-95B7-2E60910D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619500"/>
            <a:ext cx="4762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559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7B7EE7-5B9B-4FD0-B906-CFC2037E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19500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5597"/>
                </a:solidFill>
                <a:latin typeface="SimHei"/>
                <a:ea typeface="SimHei"/>
                <a:cs typeface="SimHei"/>
              </a:defRPr>
            </a:pPr>
            <a:r>
              <a:rPr sz="1500" b="1">
                <a:solidFill>
                  <a:srgbClr val="2F5597"/>
                </a:solidFill>
                <a:latin typeface="SimHei"/>
                <a:ea typeface="SimHei"/>
                <a:cs typeface="SimHei"/>
              </a:rPr>
              <a:t>更新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FF0421-5BA7-487B-AD01-05BA6666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3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EX 级真实方向与目标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B93556-4102-4030-B0FE-D6E62C42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524375"/>
            <a:ext cx="4762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A9D8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AAABBE-966E-4DA0-B0D6-506D88FF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524375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A9D8F"/>
                </a:solidFill>
                <a:latin typeface="SimHei"/>
                <a:ea typeface="SimHei"/>
                <a:cs typeface="SimHei"/>
              </a:defRPr>
            </a:pPr>
            <a:r>
              <a:rPr sz="1500" b="1">
                <a:solidFill>
                  <a:srgbClr val="2A9D8F"/>
                </a:solidFill>
                <a:latin typeface="SimHei"/>
                <a:ea typeface="SimHei"/>
                <a:cs typeface="SimHei"/>
              </a:rPr>
              <a:t>事件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22B8B0-AEAE-4DD8-B809-52D6E7C0F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24375"/>
            <a:ext cx="3190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350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predict / BTB hit / mispredict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9CB72A-4E7E-4785-B3FD-F5ADB55C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59117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75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07A5F"/>
                </a:solidFill>
                <a:latin typeface="SimHei"/>
                <a:ea typeface="SimHei"/>
                <a:cs typeface="SimHei"/>
              </a:defRPr>
            </a:pPr>
            <a:r>
              <a:rPr sz="1425" b="1">
                <a:solidFill>
                  <a:srgbClr val="E07A5F"/>
                </a:solidFill>
                <a:latin typeface="SimHei"/>
                <a:ea typeface="SimHei"/>
                <a:cs typeface="SimHei"/>
              </a:rPr>
              <a:t>Predictor Off 和 On 使用相同程序镜像并通过官方 CRC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ACF7E9-1826-4D0C-8F69-5B2A7A74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75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RISC-V多协议逻辑分析仪   09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516EC7-5953-40E7-B138-A0182484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Task 32 Before / After PASS</a:t>
            </a:r>
          </a:p>
        </p:txBody>
      </p:sp>
    </p:spTree>
    <p:extLst>
      <p:ext uri="{BB962C8B-B14F-4D97-AF65-F5344CB8AC3E}">
        <p14:creationId xmlns:p14="http://schemas.microsoft.com/office/powerpoint/2010/main" val="4995117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534C2C-B6F5-49CD-BF13-ECC785E2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2550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八通道逻辑分析仪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22198-CD79-4F6E-AEC9-2E84A942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配置、采集、软件解析与 VCD 构成端到端闭环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85EE2-8676-4634-8486-5C9CE26F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61CD67-68D3-4871-B49B-AA023919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714500" cy="2095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07A5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1F34A0-C3B4-4326-99AF-F9BCD573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714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07A5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71A909-84C8-466E-8A14-AF2BA4FB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65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J8 激励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1A41C2-905C-4B70-8601-B07A182B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81300"/>
            <a:ext cx="1371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static  counter</a:t>
            </a:r>
          </a:p>
          <a:p xmlns:a="http://schemas.openxmlformats.org/drawingml/2006/main">
            <a:pPr algn="ctr">
              <a:defRPr sz="157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UART  SPI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A483D-BF74-4AFC-A6DF-6965CD84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1714500" cy="2095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5597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9634B7-1AAA-4050-B1FB-AD9989CE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95500"/>
            <a:ext cx="1714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A4CAD-2DF8-4BB1-A776-08E662E3F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9550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65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J8 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5F608-6FB1-4F9F-A42F-28B8D748B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81300"/>
            <a:ext cx="1371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8 通道</a:t>
            </a:r>
          </a:p>
          <a:p xmlns:a="http://schemas.openxmlformats.org/drawingml/2006/main">
            <a:pPr algn="ctr">
              <a:defRPr sz="157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3.3 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0E0B7F-7ECF-48F5-B50B-44BF61ED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95500"/>
            <a:ext cx="1714500" cy="2095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A9D8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20F50B-E20A-4B3B-B302-AF1AB460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95500"/>
            <a:ext cx="1714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EEB1BC-3EA3-464E-8205-B1BEC029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09550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62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65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Capture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E8E0B-5B6C-4808-B071-18C05029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81300"/>
            <a:ext cx="1371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trigger</a:t>
            </a:r>
          </a:p>
          <a:p xmlns:a="http://schemas.openxmlformats.org/drawingml/2006/main">
            <a:pPr algn="ctr">
              <a:defRPr sz="157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pre + post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EE31FA-366A-4B01-8BFE-16DD16CE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1714500" cy="2095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7365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2B6039-856F-44F4-8589-FA61E3E0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95500"/>
            <a:ext cx="1714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365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C4A7E2-E245-4213-8730-E0E9586F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9550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65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RISC-V 软件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3D8F37-1483-430C-8D2C-4FC7A7C8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81300"/>
            <a:ext cx="1371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MMIO</a:t>
            </a:r>
          </a:p>
          <a:p xmlns:a="http://schemas.openxmlformats.org/drawingml/2006/main">
            <a:pPr algn="ctr">
              <a:defRPr sz="157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UART/SPI 解析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EF6104-C0C2-4D93-8B2B-1DBEBAA7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1714500" cy="2095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F5597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58993C-782B-4795-8795-015B681A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95500"/>
            <a:ext cx="1714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318FB2-81EF-4A35-874A-931746D9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095500"/>
            <a:ext cx="160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SimHei"/>
                <a:ea typeface="SimHei"/>
                <a:cs typeface="SimHei"/>
              </a:defRPr>
            </a:pPr>
            <a:r>
              <a:rPr sz="165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Python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E52E77-7098-41A5-96F6-830E56BD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81300"/>
            <a:ext cx="1371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协议复核</a:t>
            </a:r>
          </a:p>
          <a:p xmlns:a="http://schemas.openxmlformats.org/drawingml/2006/main">
            <a:pPr algn="ctr">
              <a:defRPr sz="157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57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VCD / JSON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633431-3AF6-497E-88EA-081A05A2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05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547FC7-D242-424D-AAF8-31399214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915038-F2D8-4419-A9FE-03192EC0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0CF068-13E1-48E5-876E-283AA187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05150"/>
            <a:ext cx="38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75E397-F1F5-4461-AD99-EB9674E8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0096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1650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8 通道  |  256 samples  |  最高 50 MS/s  |  触发延迟 0 个额外 sample tick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016379-AE80-475C-8F9A-D86A50F67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1009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1425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13 字节带 XOR 校验配置包，无需重新综合即可改变模式、数据、速率与触发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1538E2-C66F-4220-8E43-9000A732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75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RISC-V多协议逻辑分析仪   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B4795B-DFBC-436C-A16D-797DA3E9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Task 30 自动化 PASS</a:t>
            </a:r>
          </a:p>
        </p:txBody>
      </p:sp>
    </p:spTree>
    <p:extLst>
      <p:ext uri="{BB962C8B-B14F-4D97-AF65-F5344CB8AC3E}">
        <p14:creationId xmlns:p14="http://schemas.microsoft.com/office/powerpoint/2010/main" val="2340776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F73E01-78D9-4464-A492-6D5A65B0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2550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现场演示与证据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1311C2-0DC3-4485-8855-E32F5239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唯一最终 bitstream 完成应用演示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A9CDB3-9839-47BD-B767-03E2297A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1638300"/>
          <a:ext xmlns:a="http://schemas.openxmlformats.org/drawingml/2006/main" cx="106680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3333750"/>
                <a:gridCol w="5048250"/>
              </a:tblGrid>
              <a:tr h="666750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</a:rPr>
                        <a:t>动作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</a:rPr>
                        <a:t>脚本或工具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SimHei"/>
                          <a:ea typeface="SimHei"/>
                          <a:cs typeface="SimHei"/>
                        </a:rPr>
                        <a:t>PASS 条件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下载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PDS Programmer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SHA-256 与最终包一致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串口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CP2102 115200 8N1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LA_READY 与配置响应正确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物理回环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run_task30_board.ps1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4 模式 × 20 次，VCD/JSON 一致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断电压力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run01 / run02 / run03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111827"/>
                          </a:solidFill>
                          <a:latin typeface="SimHei"/>
                          <a:ea typeface="SimHei"/>
                          <a:cs typeface="SimHei"/>
                        </a:rPr>
                        <a:t>同一 SHA-256，三轮结果一致</a:t>
                      </a:r>
                    </a:p>
                  </a:txBody>
                  <a:tcPr marL="91440" marR="91440" marT="45720" marB="45720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0D840-31AB-4D13-A3D6-17EACF40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6375"/>
            <a:ext cx="10668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11430">
            <a:solidFill>
              <a:srgbClr val="E07A5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FE3F01-9EB6-483E-8C6F-9238C7BB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53050"/>
            <a:ext cx="1019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3B12"/>
                </a:solidFill>
                <a:latin typeface="SimHei"/>
                <a:ea typeface="SimHei"/>
                <a:cs typeface="SimHei"/>
              </a:defRPr>
            </a:pPr>
            <a:r>
              <a:rPr sz="1575" b="1">
                <a:solidFill>
                  <a:srgbClr val="8A3B12"/>
                </a:solidFill>
                <a:latin typeface="SimHei"/>
                <a:ea typeface="SimHei"/>
                <a:cs typeface="SimHei"/>
              </a:rPr>
              <a:t>板卡未连接时不以 RTL 仿真、综合估算或内部 loopback 替代实体证据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0847C-4B20-4CFA-8B97-93998986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75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RISC-V多协议逻辑分析仪   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2A86C6-4A9D-4C27-8017-D4132FB8E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复现说明 docs/reproduction.md</a:t>
            </a:r>
          </a:p>
        </p:txBody>
      </p:sp>
    </p:spTree>
    <p:extLst>
      <p:ext uri="{BB962C8B-B14F-4D97-AF65-F5344CB8AC3E}">
        <p14:creationId xmlns:p14="http://schemas.microsoft.com/office/powerpoint/2010/main" val="17639042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4C8D64-374B-4D28-A032-16B216A6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2550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当前结论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A18D4-62DE-42F9-B704-B2D56FE1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12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自动化与 PDS 已通过，实体证据决定最终冻结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83F3D-6E87-4285-AE58-D06032A6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10858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59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21360-D34F-40CF-A28E-7F847BF7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AF7F5"/>
          </a:solidFill>
          <a:ln xmlns:a="http://schemas.openxmlformats.org/drawingml/2006/main" w="11430">
            <a:solidFill>
              <a:srgbClr val="2A9D8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B328FD-EEE6-4629-A053-2EB5F361C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4310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A9D8F"/>
                </a:solidFill>
                <a:latin typeface="SimHei"/>
                <a:ea typeface="SimHei"/>
                <a:cs typeface="SimHei"/>
              </a:defRPr>
            </a:pPr>
            <a:r>
              <a:rPr sz="2250" b="1">
                <a:solidFill>
                  <a:srgbClr val="2A9D8F"/>
                </a:solidFill>
                <a:latin typeface="SimHei"/>
                <a:ea typeface="SimHei"/>
                <a:cs typeface="SimHei"/>
              </a:rPr>
              <a:t>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995CB1-DD9A-47C3-B9E2-D88042C7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72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RV32I 与 Reference</a:t>
            </a:r>
          </a:p>
          <a:p xmlns:a="http://schemas.openxmlformats.org/drawingml/2006/main">
            <a:pPr algn="ctr">
              <a:defRPr sz="172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72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五级流水线与 Hazard</a:t>
            </a:r>
          </a:p>
          <a:p xmlns:a="http://schemas.openxmlformats.org/drawingml/2006/main">
            <a:pPr algn="ctr">
              <a:defRPr sz="172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72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CoreMark 与 BTB 对比</a:t>
            </a:r>
          </a:p>
          <a:p xmlns:a="http://schemas.openxmlformats.org/drawingml/2006/main">
            <a:pPr algn="ctr">
              <a:defRPr sz="172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72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唯一最终 PDS bitstream</a:t>
            </a:r>
          </a:p>
          <a:p xmlns:a="http://schemas.openxmlformats.org/drawingml/2006/main">
            <a:pPr algn="ctr">
              <a:defRPr sz="172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72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逻辑分析仪自动化闭环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CACE0-798A-4C8B-A0A8-C7D21A8E1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14500"/>
            <a:ext cx="4953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11430">
            <a:solidFill>
              <a:srgbClr val="E07A5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CEEC46-50E0-4B17-B3E9-3190E2AB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43100"/>
            <a:ext cx="441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E07A5F"/>
                </a:solidFill>
                <a:latin typeface="SimHei"/>
                <a:ea typeface="SimHei"/>
                <a:cs typeface="SimHei"/>
              </a:defRPr>
            </a:pPr>
            <a:r>
              <a:rPr sz="2250" b="1">
                <a:solidFill>
                  <a:srgbClr val="E07A5F"/>
                </a:solidFill>
                <a:latin typeface="SimHei"/>
                <a:ea typeface="SimHei"/>
                <a:cs typeface="SimHei"/>
              </a:rPr>
              <a:t>待补证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FDD15-7F90-43DE-AB64-00EEE50F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47950"/>
            <a:ext cx="4000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72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JTAG 下载记录</a:t>
            </a:r>
          </a:p>
          <a:p xmlns:a="http://schemas.openxmlformats.org/drawingml/2006/main">
            <a:pPr algn="ctr">
              <a:defRPr sz="172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72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CP2102 串口记录</a:t>
            </a:r>
          </a:p>
          <a:p xmlns:a="http://schemas.openxmlformats.org/drawingml/2006/main">
            <a:pPr algn="ctr">
              <a:defRPr sz="172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72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J8 物理回环</a:t>
            </a:r>
          </a:p>
          <a:p xmlns:a="http://schemas.openxmlformats.org/drawingml/2006/main">
            <a:pPr algn="ctr">
              <a:defRPr sz="172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72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三轮断电压力</a:t>
            </a:r>
          </a:p>
          <a:p xmlns:a="http://schemas.openxmlformats.org/drawingml/2006/main">
            <a:pPr algn="ctr">
              <a:defRPr sz="1725" b="0">
                <a:solidFill>
                  <a:srgbClr val="111827"/>
                </a:solidFill>
                <a:latin typeface="SimHei"/>
                <a:ea typeface="SimHei"/>
                <a:cs typeface="SimHei"/>
              </a:defRPr>
            </a:pPr>
            <a:r>
              <a:rPr sz="1725" b="0">
                <a:solidFill>
                  <a:srgbClr val="111827"/>
                </a:solidFill>
                <a:latin typeface="SimHei"/>
                <a:ea typeface="SimHei"/>
                <a:cs typeface="SimHei"/>
              </a:rPr>
              <a:t>最终视频素材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46C254-51D5-4FD9-8223-552CAFA1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65D"/>
                </a:solidFill>
                <a:latin typeface="SimHei"/>
                <a:ea typeface="SimHei"/>
                <a:cs typeface="SimHei"/>
              </a:defRPr>
            </a:pPr>
            <a:r>
              <a:rPr sz="2025" b="1">
                <a:solidFill>
                  <a:srgbClr val="17365D"/>
                </a:solidFill>
                <a:latin typeface="SimHei"/>
                <a:ea typeface="SimHei"/>
                <a:cs typeface="SimHei"/>
              </a:rPr>
              <a:t>当前版本：competition_final_candidate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08532-D0ED-470B-92F2-0C1C7C70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75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RISC-V多协议逻辑分析仪   12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0B7710-DD73-4C85-AE15-6CFE8EA9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64770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67085"/>
                </a:solidFill>
                <a:latin typeface="SimHei"/>
                <a:ea typeface="SimHei"/>
                <a:cs typeface="SimHei"/>
              </a:defRPr>
            </a:pPr>
            <a:r>
              <a:rPr sz="900" b="0">
                <a:solidFill>
                  <a:srgbClr val="667085"/>
                </a:solidFill>
                <a:latin typeface="SimHei"/>
                <a:ea typeface="SimHei"/>
                <a:cs typeface="SimHei"/>
              </a:rPr>
              <a:t>BTB 已完成，RLE 保持冻结</a:t>
            </a:r>
          </a:p>
        </p:txBody>
      </p:sp>
    </p:spTree>
    <p:extLst>
      <p:ext uri="{BB962C8B-B14F-4D97-AF65-F5344CB8AC3E}">
        <p14:creationId xmlns:p14="http://schemas.microsoft.com/office/powerpoint/2010/main" val="1083860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2026-09-16T12:33:46.8710000Z</dcterms:created>
  <dcterms:modified xsi:type="dcterms:W3CDTF">2026-09-16T12:33:46.8710000Z</dcterms:modified>
</coreProperties>
</file>